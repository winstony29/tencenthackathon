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dpoint map" id="{2d3e0ddf-beb5-5628-0321-c5c10961a38b}">
          <p14:sldIdLst>
            <p14:sldId id="256"/>
          </p14:sldIdLst>
        </p14:section>
        <p14:section name="Data formats" id="{351f6d55-78b6-5b7e-c47a-702529be5497}">
          <p14:sldIdLst>
            <p14:sldId id="257"/>
            <p14:sldId id="258"/>
          </p14:sldIdLst>
        </p14:section>
        <p14:section name="Timing" id="{c1240e6f-6913-e5c5-3e7d-2287b3b24675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CTA_TITLE_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7680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941832"/>
            <a:ext cx="76809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ENDPOINTS </a:t>
            </a:r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&amp; DATA FLOW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941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DBS case study: DCTA · Contracts v0.2 · what the phone sends and gets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83880" y="329184"/>
            <a:ext cx="347472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279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Phone screen (Darren)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0" y="329184"/>
            <a:ext cx="347472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9731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Calls an AI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83880" y="630936"/>
            <a:ext cx="347472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Code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0" y="630936"/>
            <a:ext cx="347472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9731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Decision gate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024128"/>
            <a:ext cx="3474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862279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Trust boundary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0" y="1024128"/>
            <a:ext cx="34747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049731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Clarify loop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371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ON THE PHONE · Darren · web/ (shapeshift)</a:t>
            </a:r>
            <a:endParaRPr lang="en-US" sz="1200" dirty="0"/>
          </a:p>
        </p:txBody>
      </p:sp>
      <p:sp>
        <p:nvSpPr>
          <p:cNvPr id="17" name="Typing"/>
          <p:cNvSpPr/>
          <p:nvPr/>
        </p:nvSpPr>
        <p:spPr>
          <a:xfrm>
            <a:off x="411480" y="1645920"/>
            <a:ext cx="1600200" cy="54864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Typing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card morphs (preview)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" y="157276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" y="2221992"/>
            <a:ext cx="0" cy="9509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658368" y="2221992"/>
            <a:ext cx="0" cy="9509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58952" y="2258568"/>
            <a:ext cx="1252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intent guess + meta</a:t>
            </a:r>
            <a:endParaRPr lang="en-US" sz="1000" dirty="0"/>
          </a:p>
        </p:txBody>
      </p:sp>
      <p:sp>
        <p:nvSpPr>
          <p:cNvPr id="22" name="/api/preview"/>
          <p:cNvSpPr/>
          <p:nvPr/>
        </p:nvSpPr>
        <p:spPr>
          <a:xfrm>
            <a:off x="411480" y="3200400"/>
            <a:ext cx="1600200" cy="594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/api/preview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POST · Winston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3840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1 Jev call, raw text, cached. Display only.</a:t>
            </a:r>
            <a:endParaRPr lang="en-US" sz="1000" dirty="0"/>
          </a:p>
        </p:txBody>
      </p:sp>
      <p:sp>
        <p:nvSpPr>
          <p:cNvPr id="24" name="Mic tap"/>
          <p:cNvSpPr/>
          <p:nvPr/>
        </p:nvSpPr>
        <p:spPr>
          <a:xfrm>
            <a:off x="2194560" y="1645920"/>
            <a:ext cx="1600200" cy="54864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Mic tap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records the command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21408" y="157276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04288" y="2221992"/>
            <a:ext cx="0" cy="9509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2441448" y="2221992"/>
            <a:ext cx="0" cy="9509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542032" y="2258568"/>
            <a:ext cx="1252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audio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transcript + confidence</a:t>
            </a:r>
            <a:endParaRPr lang="en-US" sz="1000" dirty="0"/>
          </a:p>
        </p:txBody>
      </p:sp>
      <p:sp>
        <p:nvSpPr>
          <p:cNvPr id="29" name="/api/transcribe"/>
          <p:cNvSpPr/>
          <p:nvPr/>
        </p:nvSpPr>
        <p:spPr>
          <a:xfrm>
            <a:off x="2194560" y="3200400"/>
            <a:ext cx="1600200" cy="594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/api/transcribe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POST · Winston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3840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Tencent ASR.</a:t>
            </a:r>
            <a:endParaRPr lang="en-US" sz="1000" dirty="0"/>
          </a:p>
        </p:txBody>
      </p:sp>
      <p:sp>
        <p:nvSpPr>
          <p:cNvPr id="31" name="Thinking"/>
          <p:cNvSpPr/>
          <p:nvPr/>
        </p:nvSpPr>
        <p:spPr>
          <a:xfrm>
            <a:off x="3977640" y="1645920"/>
            <a:ext cx="1600200" cy="54864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Thinking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then chips or draft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04488" y="157276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87368" y="2221992"/>
            <a:ext cx="0" cy="9509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4224528" y="2221992"/>
            <a:ext cx="0" cy="9509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325112" y="2258568"/>
            <a:ext cx="1252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transcript or answer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question · draft · blocked · unsupported · cancelled</a:t>
            </a:r>
            <a:endParaRPr lang="en-US" sz="1000" dirty="0"/>
          </a:p>
        </p:txBody>
      </p:sp>
      <p:sp>
        <p:nvSpPr>
          <p:cNvPr id="36" name="/api/understand"/>
          <p:cNvSpPr/>
          <p:nvPr/>
        </p:nvSpPr>
        <p:spPr>
          <a:xfrm>
            <a:off x="3977640" y="3200400"/>
            <a:ext cx="1600200" cy="594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/api/understand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POST · Winston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977640" y="3840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Pipeline below. Server gate decides.</a:t>
            </a:r>
            <a:endParaRPr lang="en-US" sz="1000" dirty="0"/>
          </a:p>
        </p:txBody>
      </p:sp>
      <p:sp>
        <p:nvSpPr>
          <p:cNvPr id="38" name="Checking"/>
          <p:cNvSpPr/>
          <p:nvPr/>
        </p:nvSpPr>
        <p:spPr>
          <a:xfrm>
            <a:off x="5760720" y="1645920"/>
            <a:ext cx="1600200" cy="54864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Checking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frozen if mismatch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87568" y="157276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70448" y="2221992"/>
            <a:ext cx="0" cy="9509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6007608" y="2221992"/>
            <a:ext cx="0" cy="95097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108192" y="2258568"/>
            <a:ext cx="1252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draft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match + receipt, or mismatch + fields</a:t>
            </a:r>
            <a:endParaRPr lang="en-US" sz="1000" dirty="0"/>
          </a:p>
        </p:txBody>
      </p:sp>
      <p:sp>
        <p:nvSpPr>
          <p:cNvPr id="43" name="/api/validate"/>
          <p:cNvSpPr/>
          <p:nvPr/>
        </p:nvSpPr>
        <p:spPr>
          <a:xfrm>
            <a:off x="5760720" y="3200400"/>
            <a:ext cx="1600200" cy="594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/api/validate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POST · Jayanth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760720" y="3840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Second model checks draft vs transcript.</a:t>
            </a:r>
            <a:endParaRPr lang="en-US" sz="1000" dirty="0"/>
          </a:p>
        </p:txBody>
      </p:sp>
      <p:sp>
        <p:nvSpPr>
          <p:cNvPr id="45" name="Confirm &amp; sign"/>
          <p:cNvSpPr/>
          <p:nvPr/>
        </p:nvSpPr>
        <p:spPr>
          <a:xfrm>
            <a:off x="7680960" y="1645920"/>
            <a:ext cx="1965960" cy="54864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Confirm &amp; sign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device key signs payload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07808" y="157276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90688" y="2221992"/>
            <a:ext cx="0" cy="9509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7927848" y="2221992"/>
            <a:ext cx="0" cy="95097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8028432" y="2258568"/>
            <a:ext cx="1618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draft + receipt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nonce + signing_payload</a:t>
            </a:r>
            <a:endParaRPr lang="en-US" sz="1000" dirty="0"/>
          </a:p>
        </p:txBody>
      </p:sp>
      <p:sp>
        <p:nvSpPr>
          <p:cNvPr id="50" name="/api/challenge"/>
          <p:cNvSpPr/>
          <p:nvPr/>
        </p:nvSpPr>
        <p:spPr>
          <a:xfrm>
            <a:off x="7680960" y="3200400"/>
            <a:ext cx="1965960" cy="5943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/api/challenge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POST · Jayanth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680960" y="3840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Needs receipt. Nonce: 5 min, one use.</a:t>
            </a:r>
            <a:endParaRPr lang="en-US" sz="1000" dirty="0"/>
          </a:p>
        </p:txBody>
      </p:sp>
      <p:sp>
        <p:nvSpPr>
          <p:cNvPr id="52" name="Result"/>
          <p:cNvSpPr/>
          <p:nvPr/>
        </p:nvSpPr>
        <p:spPr>
          <a:xfrm>
            <a:off x="9829800" y="1645920"/>
            <a:ext cx="1965960" cy="54864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executed · OTP · rejected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756648" y="157276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939528" y="2221992"/>
            <a:ext cx="0" cy="95097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10076688" y="2221992"/>
            <a:ext cx="0" cy="95097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10177272" y="2258568"/>
            <a:ext cx="1618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nonce + signature (+ otp)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executed · needs_extra_check · rejected</a:t>
            </a:r>
            <a:endParaRPr lang="en-US" sz="1000" dirty="0"/>
          </a:p>
        </p:txBody>
      </p:sp>
      <p:sp>
        <p:nvSpPr>
          <p:cNvPr id="57" name="/api/execute"/>
          <p:cNvSpPr/>
          <p:nvPr/>
        </p:nvSpPr>
        <p:spPr>
          <a:xfrm>
            <a:off x="9829800" y="3200400"/>
            <a:ext cx="1965960" cy="5943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/api/execute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POST · Jayanth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829800" y="3840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Signature → rules → ledger.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977640" y="4306824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4325112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Clarify loop: answers return to /api/understand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98080" y="2286000"/>
            <a:ext cx="0" cy="397764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dash"/>
            <a:tailEnd type="none"/>
          </a:ln>
        </p:spPr>
      </p:sp>
      <p:sp>
        <p:nvSpPr>
          <p:cNvPr id="62" name="Text 60"/>
          <p:cNvSpPr txBox="1"/>
          <p:nvPr/>
        </p:nvSpPr>
        <p:spPr>
          <a:xfrm>
            <a:off x="411480" y="44988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INSIDE /api/understand · Winston · app/intent/</a:t>
            </a:r>
            <a:endParaRPr lang="en-US" sz="1200" dirty="0"/>
          </a:p>
        </p:txBody>
      </p:sp>
      <p:sp>
        <p:nvSpPr>
          <p:cNvPr id="63" name="Input shield"/>
          <p:cNvSpPr/>
          <p:nvPr/>
        </p:nvSpPr>
        <p:spPr>
          <a:xfrm>
            <a:off x="411480" y="4754880"/>
            <a:ext cx="1143000" cy="6400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Input shield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Jev flags injection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572768" y="5074920"/>
            <a:ext cx="19202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5" name="Prompt rewriter"/>
          <p:cNvSpPr/>
          <p:nvPr/>
        </p:nvSpPr>
        <p:spPr>
          <a:xfrm>
            <a:off x="1783080" y="4754880"/>
            <a:ext cx="1143000" cy="6400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Prompt rewriter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LLM: K rewrites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944368" y="5074920"/>
            <a:ext cx="19202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7" name="Jev × (K+1)"/>
          <p:cNvSpPr/>
          <p:nvPr/>
        </p:nvSpPr>
        <p:spPr>
          <a:xfrm>
            <a:off x="3154680" y="4754880"/>
            <a:ext cx="1143000" cy="6400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Jev × (K+1)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picks from options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315968" y="5074920"/>
            <a:ext cx="19202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9" name="Confidence gate"/>
          <p:cNvSpPr/>
          <p:nvPr/>
        </p:nvSpPr>
        <p:spPr>
          <a:xfrm>
            <a:off x="4526280" y="4754880"/>
            <a:ext cx="146304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Confidence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avg p ≥ τ, low spread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007608" y="5074920"/>
            <a:ext cx="19202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1" name="Draft builder"/>
          <p:cNvSpPr/>
          <p:nvPr/>
        </p:nvSpPr>
        <p:spPr>
          <a:xfrm>
            <a:off x="6217920" y="4754880"/>
            <a:ext cx="1143000" cy="6400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Draft builder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code writes values</a:t>
            </a:r>
            <a:endParaRPr lang="en-US" sz="1100" dirty="0"/>
          </a:p>
        </p:txBody>
      </p:sp>
      <p:sp>
        <p:nvSpPr>
          <p:cNvPr id="72" name="Option builder"/>
          <p:cNvSpPr/>
          <p:nvPr/>
        </p:nvSpPr>
        <p:spPr>
          <a:xfrm>
            <a:off x="3154680" y="5596128"/>
            <a:ext cx="1143000" cy="548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Option builder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payees, accounts, tickers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 flipV="1">
            <a:off x="3726180" y="5422392"/>
            <a:ext cx="0" cy="15544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4" name="Text 72"/>
          <p:cNvSpPr txBox="1"/>
          <p:nvPr/>
        </p:nvSpPr>
        <p:spPr>
          <a:xfrm>
            <a:off x="4526280" y="5440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low → question  ·  pass → draft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7680960" y="44988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1"/>
                </a:solidFill>
              </a:rPr>
              <a:t>MOCK BANK · Jayanth · app/bank/</a:t>
            </a:r>
            <a:endParaRPr lang="en-US" sz="1200" dirty="0"/>
          </a:p>
        </p:txBody>
      </p:sp>
      <p:sp>
        <p:nvSpPr>
          <p:cNvPr id="76" name="/api/device/register"/>
          <p:cNvSpPr/>
          <p:nvPr/>
        </p:nvSpPr>
        <p:spPr>
          <a:xfrm>
            <a:off x="7680960" y="4754880"/>
            <a:ext cx="1965960" cy="6400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/api/device/register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POST · once, on first load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↓ public_key_jwk  ↑ registered</a:t>
            </a:r>
            <a:endParaRPr lang="en-US" sz="1100" dirty="0"/>
          </a:p>
        </p:txBody>
      </p:sp>
      <p:sp>
        <p:nvSpPr>
          <p:cNvPr id="77" name="/api/quote"/>
          <p:cNvSpPr/>
          <p:nvPr/>
        </p:nvSpPr>
        <p:spPr>
          <a:xfrm>
            <a:off x="9829800" y="4754880"/>
            <a:ext cx="1965960" cy="6400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/api/quote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GET · every 10 s on a stock card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↑ price, as_of</a:t>
            </a:r>
            <a:endParaRPr lang="en-US" sz="1100" dirty="0"/>
          </a:p>
        </p:txBody>
      </p:sp>
      <p:sp>
        <p:nvSpPr>
          <p:cNvPr id="78" name="/api/accounts"/>
          <p:cNvSpPr/>
          <p:nvPr/>
        </p:nvSpPr>
        <p:spPr>
          <a:xfrm>
            <a:off x="7680960" y="5532120"/>
            <a:ext cx="1965960" cy="6400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/api/accounts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GET · accounts, payees,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billers, holdings</a:t>
            </a:r>
            <a:endParaRPr lang="en-US" sz="1100" dirty="0"/>
          </a:p>
        </p:txBody>
      </p:sp>
      <p:sp>
        <p:nvSpPr>
          <p:cNvPr id="79" name="/api/audit"/>
          <p:cNvSpPr/>
          <p:nvPr/>
        </p:nvSpPr>
        <p:spPr>
          <a:xfrm>
            <a:off x="9829800" y="5532120"/>
            <a:ext cx="1965960" cy="6400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GET · audit page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↑ chain_valid + entries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 flipH="1">
            <a:off x="4325112" y="5870448"/>
            <a:ext cx="33375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4434840" y="5916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read-only user data (app/bank/readonly.py)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4114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phone is the only caller of both sides. Only a signed draft crosses into the bank.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AI SIDE: </a:t>
            </a:r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REQUESTS &amp; REPLIES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941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Winston · app/intent/ · → is what the phone sends, ← is what it gets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83880" y="329184"/>
            <a:ext cx="347472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279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Phone screen (Darren)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0" y="329184"/>
            <a:ext cx="347472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9731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Calls an AI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83880" y="630936"/>
            <a:ext cx="347472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Code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0" y="630936"/>
            <a:ext cx="347472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9731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Decision gate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024128"/>
            <a:ext cx="3474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862279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Trust boundary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0" y="1024128"/>
            <a:ext cx="34747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049731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Clarify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463040"/>
            <a:ext cx="7269480" cy="1691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155448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POST /api/preview   ·   while typing, display only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874520"/>
            <a:ext cx="6995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{"text": "send fifty to jo"}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{"intent": {"value": "transfer", "confidence": 0.81,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"probabilities": {"transfer": 0.81, "bill_payment": 0.11,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"stock_order": 0.05, "none": 0.03}},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"meta": {…}}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value: transfer · bill_payment · stock_order · none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291840"/>
            <a:ext cx="7269480" cy="89611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8328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POST /api/transcribe   ·   once, when recording stops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03320"/>
            <a:ext cx="6995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multipart form, field "audio"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{"transcript": "send fifty to john", "confidence": 0.93}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297680"/>
            <a:ext cx="7269480" cy="2011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38912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POST /api/understand   ·   once per user turn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09160"/>
            <a:ext cx="6995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{"user_id": "u_demo", "session_id": "s_41b9", "transcript": "send fifty to john"}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{"user_id": "u_demo", "session_id": "s_41b9",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"answer": {"question_id": "q_1", "option_id": "pay_4521"}}      // "none" cancels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{"status": "question",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"question": {"question_id": "q_1", "text": "Which John did you mean?",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"options": [{"option_id": "pay_4521", "label": "John Doe …4521"}, …],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"allow_none": true},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"evidence": [{"question": "recipient", "avg_p": 0.52, "spread": 0.31, …}], "meta": {…}}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0" y="1463040"/>
            <a:ext cx="3840480" cy="26974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92440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status → what the phone shows</a:t>
            </a:r>
            <a:endParaRPr lang="en-US" sz="1200" dirty="0"/>
          </a:p>
        </p:txBody>
      </p:sp>
      <p:sp>
        <p:nvSpPr>
          <p:cNvPr id="27" name="status question"/>
          <p:cNvSpPr/>
          <p:nvPr/>
        </p:nvSpPr>
        <p:spPr>
          <a:xfrm>
            <a:off x="8092440" y="1901952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question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Clarify chips + "None of these"</a:t>
            </a:r>
            <a:endParaRPr lang="en-US" sz="1000" dirty="0"/>
          </a:p>
        </p:txBody>
      </p:sp>
      <p:sp>
        <p:nvSpPr>
          <p:cNvPr id="29" name="status draft"/>
          <p:cNvSpPr/>
          <p:nvPr/>
        </p:nvSpPr>
        <p:spPr>
          <a:xfrm>
            <a:off x="8092440" y="2340864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draft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23408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Call /api/validate, then the confirmation cards</a:t>
            </a:r>
            <a:endParaRPr lang="en-US" sz="1000" dirty="0"/>
          </a:p>
        </p:txBody>
      </p:sp>
      <p:sp>
        <p:nvSpPr>
          <p:cNvPr id="31" name="status blocked"/>
          <p:cNvSpPr/>
          <p:nvPr/>
        </p:nvSpPr>
        <p:spPr>
          <a:xfrm>
            <a:off x="8092440" y="2779776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blocked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27797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Warning: say it again</a:t>
            </a:r>
            <a:endParaRPr lang="en-US" sz="1000" dirty="0"/>
          </a:p>
        </p:txBody>
      </p:sp>
      <p:sp>
        <p:nvSpPr>
          <p:cNvPr id="33" name="status unsupported"/>
          <p:cNvSpPr/>
          <p:nvPr/>
        </p:nvSpPr>
        <p:spPr>
          <a:xfrm>
            <a:off x="8092440" y="3218688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unsupported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37260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Short help message</a:t>
            </a:r>
            <a:endParaRPr lang="en-US" sz="1000" dirty="0"/>
          </a:p>
        </p:txBody>
      </p:sp>
      <p:sp>
        <p:nvSpPr>
          <p:cNvPr id="35" name="status cancelled"/>
          <p:cNvSpPr/>
          <p:nvPr/>
        </p:nvSpPr>
        <p:spPr>
          <a:xfrm>
            <a:off x="8092440" y="3657600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cancelled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37260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Back to start (user_declined or too_many_questions)</a:t>
            </a:r>
            <a:endParaRPr lang="en-US" sz="1000" dirty="0"/>
          </a:p>
        </p:txBody>
      </p:sp>
      <p:sp>
        <p:nvSpPr>
          <p:cNvPr id="37" name="The server's gate decides question vs draft"/>
          <p:cNvSpPr/>
          <p:nvPr/>
        </p:nvSpPr>
        <p:spPr>
          <a:xfrm>
            <a:off x="7955280" y="4297680"/>
            <a:ext cx="384048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The server's gate decides question vs draft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The phone obeys status and applies no thresholds of its own.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55280" y="5120640"/>
            <a:ext cx="3840480" cy="11887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92440" y="5212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meta   ·   on every intent reply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{"latency_ms": 840, "model": "jev-1.13.0",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"source": "jev", "phrasings": 4,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"cached": false}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THE DRAFT </a:t>
            </a:r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&amp; BANK SIDE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941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the user signs, and the calls that move money · Jayanth · app/validation/, app/bank/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83880" y="329184"/>
            <a:ext cx="347472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279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Phone screen (Darren)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0" y="329184"/>
            <a:ext cx="347472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9731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Calls an AI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83880" y="630936"/>
            <a:ext cx="347472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Code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0" y="630936"/>
            <a:ext cx="347472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9731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Decision gate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024128"/>
            <a:ext cx="3474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862279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Trust boundary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0" y="1024128"/>
            <a:ext cx="34747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049731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Clarify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463040"/>
            <a:ext cx="5257800" cy="48463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155448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draft   ·   built by code, never by an LLM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874520"/>
            <a:ext cx="49834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{"draft_id": "d_8f2c1a",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"user_id": "u_demo",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"session_id": "s_41b9",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"transcript": "send fifty to john",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"created_at": "2026-10-12T09:30:00+08:00",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"actions": [                     // 1 to 4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{"type": "transfer",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"from_account_id": "acc_1234",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"from_account_label": "Savings …1234",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"to_payee_id": "pay_4521",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"to_payee_label": "John Doe …4521",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"amount": "50.00", "currency": "SGD"}],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"evidence": [{"question": "recipient",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"pick": "pay_4521", "avg_p": 0.97,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"spread": 0.03, "probabilities": {…}}]}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bill_payment: biller_id, biller_label,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bill_reference, amount, currency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stock_order: side, ticker, company_name,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quantity, order_type, limit_price, currency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 is a string ("50.00"), never a float.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fields are rejected.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1463040"/>
            <a:ext cx="5897880" cy="12801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55448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POST /api/validate   ·   when a draft arrives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{"draft": {…}}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{"status": "match", "receipt": "vr_3f9a…"}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{"status": "mismatch", "fields": [{"field": "actions[0].amount",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"draft_value": "15.00", "transcript_says": "fifty", …}]}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2898648"/>
            <a:ext cx="589788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dash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5897880" y="2953512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TRUST BOUNDARY: only the signed draft crosses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246120"/>
            <a:ext cx="5897880" cy="10972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333756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POST /api/challenge   ·   user taps Confirm &amp; sign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65760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{"draft": {…}, "receipt": "vr_3f9a…"}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{"nonce": "n_7d21…", "signing_payload": "&lt;canonical draft&gt;.n_7d21…",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"expires_at": "2026-10-12T09:35:00+08:00"}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4480560"/>
            <a:ext cx="5897880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457200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POST /api/execute   ·   right after signing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4892040"/>
            <a:ext cx="5623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{"nonce": "n_7d21…", "signature": "&lt;base64url&gt;", "otp": null}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{"status": "executed",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"results": [{"action_index": 0, "reference": "TX-000123"}]}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{"status": "needs_extra_check", "method": "otp", "message": "…"}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{"status": "rejected", "reason": "bad_signature", "message": "…"}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reason: bad_signature · unknown_nonce · nonce_used · nonce_expired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limit_exceeded · velocity_exceeded · kyc_incomplete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insufficient_funds · bad_otp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TIMING: </a:t>
            </a:r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WHEN EACH CALL FIRES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941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Event-driven: one call per user action. Only the stock price repeats on a timer.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83880" y="329184"/>
            <a:ext cx="347472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279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Phone screen (Darren)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0" y="329184"/>
            <a:ext cx="347472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97312" y="301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Calls an AI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83880" y="630936"/>
            <a:ext cx="347472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279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Code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0" y="630936"/>
            <a:ext cx="347472" cy="1828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97312" y="603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Decision gate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024128"/>
            <a:ext cx="34747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862279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Trust boundary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0" y="1024128"/>
            <a:ext cx="34747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0497312" y="905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Clarify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508760"/>
            <a:ext cx="1744675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61848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1618488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Type</a:t>
            </a:r>
            <a:endParaRPr lang="en-US" sz="1200" dirty="0"/>
          </a:p>
        </p:txBody>
      </p:sp>
      <p:sp>
        <p:nvSpPr>
          <p:cNvPr id="19" name="call /api/preview"/>
          <p:cNvSpPr/>
          <p:nvPr/>
        </p:nvSpPr>
        <p:spPr>
          <a:xfrm>
            <a:off x="521208" y="1984248"/>
            <a:ext cx="1525219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/api/preview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" y="2532888"/>
            <a:ext cx="15252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Each pause in typing. 150 ms debounce, previous call aborted, skipped under 2 characters.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74443" y="2212848"/>
            <a:ext cx="14630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39035" y="1508760"/>
            <a:ext cx="1744675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8763" y="161848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796235" y="1618488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Speak</a:t>
            </a:r>
            <a:endParaRPr lang="en-US" sz="1200" dirty="0"/>
          </a:p>
        </p:txBody>
      </p:sp>
      <p:sp>
        <p:nvSpPr>
          <p:cNvPr id="25" name="call recording"/>
          <p:cNvSpPr/>
          <p:nvPr/>
        </p:nvSpPr>
        <p:spPr>
          <a:xfrm>
            <a:off x="2448763" y="1984248"/>
            <a:ext cx="1525219" cy="4572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recording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448763" y="2532888"/>
            <a:ext cx="15252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Tap the mic. Stops on a second tap or after about 1.5 s of silence.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01998" y="2212848"/>
            <a:ext cx="14630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66590" y="1508760"/>
            <a:ext cx="1744675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6318" y="161848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23790" y="1618488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Recording ends</a:t>
            </a:r>
            <a:endParaRPr lang="en-US" sz="1200" dirty="0"/>
          </a:p>
        </p:txBody>
      </p:sp>
      <p:sp>
        <p:nvSpPr>
          <p:cNvPr id="31" name="call /api/transcribe"/>
          <p:cNvSpPr/>
          <p:nvPr/>
        </p:nvSpPr>
        <p:spPr>
          <a:xfrm>
            <a:off x="4376318" y="1984248"/>
            <a:ext cx="1525219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/api/transcribe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76318" y="2532888"/>
            <a:ext cx="15252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Once. Typed input skips this step.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29554" y="2212848"/>
            <a:ext cx="14630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94146" y="1508760"/>
            <a:ext cx="1744675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3874" y="161848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651346" y="1618488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Each turn</a:t>
            </a:r>
            <a:endParaRPr lang="en-US" sz="1200" dirty="0"/>
          </a:p>
        </p:txBody>
      </p:sp>
      <p:sp>
        <p:nvSpPr>
          <p:cNvPr id="37" name="call /api/understand"/>
          <p:cNvSpPr/>
          <p:nvPr/>
        </p:nvSpPr>
        <p:spPr>
          <a:xfrm>
            <a:off x="6303874" y="1984248"/>
            <a:ext cx="1525219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/api/understand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03874" y="2532888"/>
            <a:ext cx="15252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Once per transcript or chip tap. Shows thinking; gives up after 15 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7109" y="2212848"/>
            <a:ext cx="14630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21701" y="1508760"/>
            <a:ext cx="1744675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31429" y="161848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578901" y="1618488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Draft arrives</a:t>
            </a:r>
            <a:endParaRPr lang="en-US" sz="1200" dirty="0"/>
          </a:p>
        </p:txBody>
      </p:sp>
      <p:sp>
        <p:nvSpPr>
          <p:cNvPr id="43" name="call /api/validate"/>
          <p:cNvSpPr/>
          <p:nvPr/>
        </p:nvSpPr>
        <p:spPr>
          <a:xfrm>
            <a:off x="8231429" y="1984248"/>
            <a:ext cx="1525219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/api/validate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231429" y="2532888"/>
            <a:ext cx="15252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Once. Mismatch shows the frozen screen and stops here.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884664" y="2212848"/>
            <a:ext cx="14630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049256" y="1508760"/>
            <a:ext cx="1744675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58984" y="1618488"/>
            <a:ext cx="256032" cy="25603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06456" y="1618488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Confirm &amp; sign</a:t>
            </a:r>
            <a:endParaRPr lang="en-US" sz="1200" dirty="0"/>
          </a:p>
        </p:txBody>
      </p:sp>
      <p:sp>
        <p:nvSpPr>
          <p:cNvPr id="49" name="call /api/challenge → /api/execute"/>
          <p:cNvSpPr/>
          <p:nvPr/>
        </p:nvSpPr>
        <p:spPr>
          <a:xfrm>
            <a:off x="10158984" y="1984248"/>
            <a:ext cx="1525219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/api/challenge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→ /api/execute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158984" y="2532888"/>
            <a:ext cx="15252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 sequence. On needs_extra_check, ask for the OTP and call execute again.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94146" y="3547872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6541618" y="3447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Clarify loop: a question sends the user back to step 4 (max 3)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4087368"/>
            <a:ext cx="113842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411480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3562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5645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7727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19810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21892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23974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26057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28139" y="402336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339035" y="393192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/api/preview repeats while the user types (stale calls aborted)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" y="4562856"/>
            <a:ext cx="113842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411480" y="4498848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5800" y="4407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/api/device/register: once, on first load, before any command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11480" y="5038344"/>
            <a:ext cx="113842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6194146" y="4946904"/>
            <a:ext cx="1744675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11480" y="4882896"/>
            <a:ext cx="55997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session_id: made by the phone at the first /api/understand; ends at draft, cancel or block; expires after 5 min idle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11480" y="5513832"/>
            <a:ext cx="113842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8121701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43902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66103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88305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10506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32707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54909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377110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99311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021513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343714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665915" y="544982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11480" y="5358384"/>
            <a:ext cx="7527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/api/quote: every 10 s while a stock card is on screen</a:t>
            </a:r>
            <a:endParaRPr lang="en-US" sz="1000" dirty="0"/>
          </a:p>
        </p:txBody>
      </p:sp>
      <p:sp>
        <p:nvSpPr>
          <p:cNvPr id="84" name="cancel lane"/>
          <p:cNvSpPr/>
          <p:nvPr/>
        </p:nvSpPr>
        <p:spPr>
          <a:xfrm>
            <a:off x="411480" y="5852160"/>
            <a:ext cx="11384280" cy="41148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Cancel, any time: abort the call in flight and drop session_id; the next command starts fresh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4114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/api/audit runs when the audit page opens or is refreshed. Numbers are starting values, tuned in testing.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CTA">
  <a:themeElements>
    <a:clrScheme name="DCTA">
      <a:dk1>
        <a:srgbClr val="2B2B2B"/>
      </a:dk1>
      <a:lt1>
        <a:srgbClr val="FFFFFF"/>
      </a:lt1>
      <a:dk2>
        <a:srgbClr val="1E1E1E"/>
      </a:dk2>
      <a:lt2>
        <a:srgbClr val="F1ECE1"/>
      </a:lt2>
      <a:accent1>
        <a:srgbClr val="3E6B48"/>
      </a:accent1>
      <a:accent2>
        <a:srgbClr val="C0584A"/>
      </a:accent2>
      <a:accent3>
        <a:srgbClr val="E2B85A"/>
      </a:accent3>
      <a:accent4>
        <a:srgbClr val="C4473A"/>
      </a:accent4>
      <a:accent5>
        <a:srgbClr val="E4DCCB"/>
      </a:accent5>
      <a:accent6>
        <a:srgbClr val="6F6858"/>
      </a:accent6>
      <a:hlink>
        <a:srgbClr val="3E6B48"/>
      </a:hlink>
      <a:folHlink>
        <a:srgbClr val="6F6858"/>
      </a:folHlink>
    </a:clrScheme>
    <a:fontScheme name="DC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DCTA endpoints and data formats</dc:title>
  <dc:subject>PptxGenJS Presentation</dc:subject>
  <dc:creator>PptxGenJS</dc:creator>
  <cp:lastModifiedBy>PptxGenJS</cp:lastModifiedBy>
  <cp:revision>1</cp:revision>
  <dcterms:created xsi:type="dcterms:W3CDTF">2026-10-10T07:48:10Z</dcterms:created>
  <dcterms:modified xsi:type="dcterms:W3CDTF">2026-10-10T07:48:10Z</dcterms:modified>
</cp:coreProperties>
</file>